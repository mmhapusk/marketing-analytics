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Lato" panose="020B0604020202020204" charset="0"/>
      <p:regular r:id="rId24"/>
      <p:bold r:id="rId25"/>
      <p:italic r:id="rId26"/>
      <p:boldItalic r:id="rId27"/>
    </p:embeddedFont>
    <p:embeddedFont>
      <p:font typeface="Montserrat" panose="020B060402020202020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86"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6bd30b9760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6bd30b9760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6be07b65bd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6be07b65bd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6bd30b9760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6bd30b9760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6bd30b9760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6bd30b9760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6beba3da58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6beba3da58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6beba3da5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6beba3da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6bd30b9760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6bd30b9760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6beba3da58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6beba3da58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6beba3da58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6beba3da5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6beba3da58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6beba3da58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6beba3da58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6beba3da58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6beba3da58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6beba3da5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6beba3da58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6beba3da58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6beba3da58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6beba3da5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d30b9760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d30b9760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6bd30b9760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6bd30b9760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6bd30b9760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6bd30b9760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6bd30b9760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6bd30b9760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6bd30b9760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6bd30b9760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6bd30b9760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6bd30b9760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bd30b9760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bd30b9760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rtl="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rtl="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1"/>
                </a:solidFill>
                <a:latin typeface="Lato"/>
                <a:ea typeface="Lato"/>
                <a:cs typeface="Lato"/>
                <a:sym typeface="Lato"/>
              </a:defRPr>
            </a:lvl1pPr>
            <a:lvl2pPr lvl="1" algn="r" rtl="0">
              <a:buNone/>
              <a:defRPr sz="1000">
                <a:solidFill>
                  <a:schemeClr val="lt1"/>
                </a:solidFill>
                <a:latin typeface="Lato"/>
                <a:ea typeface="Lato"/>
                <a:cs typeface="Lato"/>
                <a:sym typeface="Lato"/>
              </a:defRPr>
            </a:lvl2pPr>
            <a:lvl3pPr lvl="2" algn="r" rtl="0">
              <a:buNone/>
              <a:defRPr sz="1000">
                <a:solidFill>
                  <a:schemeClr val="lt1"/>
                </a:solidFill>
                <a:latin typeface="Lato"/>
                <a:ea typeface="Lato"/>
                <a:cs typeface="Lato"/>
                <a:sym typeface="Lato"/>
              </a:defRPr>
            </a:lvl3pPr>
            <a:lvl4pPr lvl="3" algn="r" rtl="0">
              <a:buNone/>
              <a:defRPr sz="1000">
                <a:solidFill>
                  <a:schemeClr val="lt1"/>
                </a:solidFill>
                <a:latin typeface="Lato"/>
                <a:ea typeface="Lato"/>
                <a:cs typeface="Lato"/>
                <a:sym typeface="Lato"/>
              </a:defRPr>
            </a:lvl4pPr>
            <a:lvl5pPr lvl="4" algn="r" rtl="0">
              <a:buNone/>
              <a:defRPr sz="1000">
                <a:solidFill>
                  <a:schemeClr val="lt1"/>
                </a:solidFill>
                <a:latin typeface="Lato"/>
                <a:ea typeface="Lato"/>
                <a:cs typeface="Lato"/>
                <a:sym typeface="Lato"/>
              </a:defRPr>
            </a:lvl5pPr>
            <a:lvl6pPr lvl="5" algn="r" rtl="0">
              <a:buNone/>
              <a:defRPr sz="1000">
                <a:solidFill>
                  <a:schemeClr val="lt1"/>
                </a:solidFill>
                <a:latin typeface="Lato"/>
                <a:ea typeface="Lato"/>
                <a:cs typeface="Lato"/>
                <a:sym typeface="Lato"/>
              </a:defRPr>
            </a:lvl6pPr>
            <a:lvl7pPr lvl="6" algn="r" rtl="0">
              <a:buNone/>
              <a:defRPr sz="1000">
                <a:solidFill>
                  <a:schemeClr val="lt1"/>
                </a:solidFill>
                <a:latin typeface="Lato"/>
                <a:ea typeface="Lato"/>
                <a:cs typeface="Lato"/>
                <a:sym typeface="Lato"/>
              </a:defRPr>
            </a:lvl7pPr>
            <a:lvl8pPr lvl="7" algn="r" rtl="0">
              <a:buNone/>
              <a:defRPr sz="1000">
                <a:solidFill>
                  <a:schemeClr val="lt1"/>
                </a:solidFill>
                <a:latin typeface="Lato"/>
                <a:ea typeface="Lato"/>
                <a:cs typeface="Lato"/>
                <a:sym typeface="Lato"/>
              </a:defRPr>
            </a:lvl8pPr>
            <a:lvl9pPr lvl="8" algn="r" rtl="0">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133150" y="792400"/>
            <a:ext cx="6144900" cy="36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a:t>Analysis of Promotional Effectiveness for Major Supermarket Chain</a:t>
            </a:r>
            <a:endParaRPr sz="3600"/>
          </a:p>
        </p:txBody>
      </p:sp>
      <p:sp>
        <p:nvSpPr>
          <p:cNvPr id="135" name="Google Shape;135;p13"/>
          <p:cNvSpPr txBox="1">
            <a:spLocks noGrp="1"/>
          </p:cNvSpPr>
          <p:nvPr>
            <p:ph type="subTitle" idx="1"/>
          </p:nvPr>
        </p:nvSpPr>
        <p:spPr>
          <a:xfrm>
            <a:off x="3255650" y="2689825"/>
            <a:ext cx="3470700" cy="192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dirty="0"/>
          </a:p>
          <a:p>
            <a:pPr marL="0" lvl="0" indent="0" algn="l" rtl="0">
              <a:spcBef>
                <a:spcPts val="0"/>
              </a:spcBef>
              <a:spcAft>
                <a:spcPts val="0"/>
              </a:spcAft>
              <a:buNone/>
            </a:pPr>
            <a:r>
              <a:rPr lang="en" sz="1800" dirty="0"/>
              <a:t>Guided by Prof. Khasha Dehnad</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Understanding</a:t>
            </a:r>
            <a:endParaRPr/>
          </a:p>
        </p:txBody>
      </p:sp>
      <p:sp>
        <p:nvSpPr>
          <p:cNvPr id="141" name="Google Shape;141;p14"/>
          <p:cNvSpPr txBox="1">
            <a:spLocks noGrp="1"/>
          </p:cNvSpPr>
          <p:nvPr>
            <p:ph type="body" idx="1"/>
          </p:nvPr>
        </p:nvSpPr>
        <p:spPr>
          <a:xfrm>
            <a:off x="1183450" y="1307850"/>
            <a:ext cx="7152900" cy="31710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The datasets contained promotional and sales data from the time period of 1st April 2018 to 30th September 2018.</a:t>
            </a:r>
            <a:endParaRPr/>
          </a:p>
          <a:p>
            <a:pPr marL="457200" lvl="0" indent="0" algn="l" rtl="0">
              <a:spcBef>
                <a:spcPts val="1600"/>
              </a:spcBef>
              <a:spcAft>
                <a:spcPts val="0"/>
              </a:spcAft>
              <a:buNone/>
            </a:pPr>
            <a:endParaRPr/>
          </a:p>
          <a:p>
            <a:pPr marL="457200" lvl="0" indent="-311150" algn="l" rtl="0">
              <a:spcBef>
                <a:spcPts val="1600"/>
              </a:spcBef>
              <a:spcAft>
                <a:spcPts val="0"/>
              </a:spcAft>
              <a:buSzPts val="1300"/>
              <a:buChar char="●"/>
            </a:pPr>
            <a:r>
              <a:rPr lang="en"/>
              <a:t>Some of the attributes we will be using and their information are as follows</a:t>
            </a:r>
            <a:endParaRPr/>
          </a:p>
          <a:p>
            <a:pPr marL="914400" lvl="1" indent="-298450" algn="l" rtl="0">
              <a:spcBef>
                <a:spcPts val="0"/>
              </a:spcBef>
              <a:spcAft>
                <a:spcPts val="0"/>
              </a:spcAft>
              <a:buSzPts val="1100"/>
              <a:buChar char="○"/>
            </a:pPr>
            <a:r>
              <a:rPr lang="en"/>
              <a:t>UPC_SCAN_QTY : The no. of units of that item that were sold in one transaction</a:t>
            </a:r>
            <a:endParaRPr/>
          </a:p>
          <a:p>
            <a:pPr marL="914400" lvl="1" indent="-298450" algn="l" rtl="0">
              <a:spcBef>
                <a:spcPts val="0"/>
              </a:spcBef>
              <a:spcAft>
                <a:spcPts val="0"/>
              </a:spcAft>
              <a:buSzPts val="1100"/>
              <a:buChar char="○"/>
            </a:pPr>
            <a:r>
              <a:rPr lang="en"/>
              <a:t>TTL_SCAN_DLR_AMT: The sales of that item in dollar amount for the transaction</a:t>
            </a:r>
            <a:endParaRPr/>
          </a:p>
          <a:p>
            <a:pPr marL="914400" lvl="1" indent="-298450" algn="l" rtl="0">
              <a:spcBef>
                <a:spcPts val="0"/>
              </a:spcBef>
              <a:spcAft>
                <a:spcPts val="0"/>
              </a:spcAft>
              <a:buSzPts val="1100"/>
              <a:buChar char="○"/>
            </a:pPr>
            <a:r>
              <a:rPr lang="en"/>
              <a:t>UPC_CAT_CODE: The product category that the item belongs to</a:t>
            </a:r>
            <a:endParaRPr/>
          </a:p>
          <a:p>
            <a:pPr marL="914400" lvl="1" indent="-298450" algn="l" rtl="0">
              <a:spcBef>
                <a:spcPts val="0"/>
              </a:spcBef>
              <a:spcAft>
                <a:spcPts val="0"/>
              </a:spcAft>
              <a:buSzPts val="1100"/>
              <a:buChar char="○"/>
            </a:pPr>
            <a:r>
              <a:rPr lang="en"/>
              <a:t>DSCNT_AMT: The value of a discount coupon</a:t>
            </a:r>
            <a:endParaRPr/>
          </a:p>
          <a:p>
            <a:pPr marL="914400" lvl="1" indent="-298450" algn="l" rtl="0">
              <a:spcBef>
                <a:spcPts val="0"/>
              </a:spcBef>
              <a:spcAft>
                <a:spcPts val="0"/>
              </a:spcAft>
              <a:buSzPts val="1100"/>
              <a:buChar char="○"/>
            </a:pPr>
            <a:r>
              <a:rPr lang="en"/>
              <a:t>DIGITL_DSCNT_AMT: The value of a digital discount coupon</a:t>
            </a:r>
            <a:endParaRPr/>
          </a:p>
          <a:p>
            <a:pPr marL="914400" lvl="1" indent="-298450" algn="l" rtl="0">
              <a:spcBef>
                <a:spcPts val="0"/>
              </a:spcBef>
              <a:spcAft>
                <a:spcPts val="0"/>
              </a:spcAft>
              <a:buSzPts val="1100"/>
              <a:buChar char="○"/>
            </a:pPr>
            <a:r>
              <a:rPr lang="en"/>
              <a:t>MIXNMTCH_DSCNT_AMT: The value of a Mix n Match Coupon</a:t>
            </a:r>
            <a:endParaRPr/>
          </a:p>
          <a:p>
            <a:pPr marL="914400" lvl="1" indent="-298450" algn="l" rtl="0">
              <a:spcBef>
                <a:spcPts val="0"/>
              </a:spcBef>
              <a:spcAft>
                <a:spcPts val="0"/>
              </a:spcAft>
              <a:buSzPts val="1100"/>
              <a:buChar char="○"/>
            </a:pPr>
            <a:r>
              <a:rPr lang="en"/>
              <a:t>AD_ITM_PRTY_CODE: The type of Ad size that was run for the item in the weekly ad brochure</a:t>
            </a:r>
            <a:endParaRPr/>
          </a:p>
          <a:p>
            <a:pPr marL="0" lvl="0" indent="0" algn="l" rtl="0">
              <a:spcBef>
                <a:spcPts val="1600"/>
              </a:spcBef>
              <a:spcAft>
                <a:spcPts val="16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Preprocessing</a:t>
            </a:r>
            <a:endParaRPr/>
          </a:p>
        </p:txBody>
      </p:sp>
      <p:sp>
        <p:nvSpPr>
          <p:cNvPr id="147" name="Google Shape;147;p15"/>
          <p:cNvSpPr txBox="1">
            <a:spLocks noGrp="1"/>
          </p:cNvSpPr>
          <p:nvPr>
            <p:ph type="body" idx="1"/>
          </p:nvPr>
        </p:nvSpPr>
        <p:spPr>
          <a:xfrm>
            <a:off x="892825" y="1544800"/>
            <a:ext cx="3444000" cy="2911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We also split the dataset based on the three categories of items that were sold, namely</a:t>
            </a:r>
            <a:endParaRPr/>
          </a:p>
          <a:p>
            <a:pPr marL="914400" lvl="1" indent="-298450" algn="l" rtl="0">
              <a:spcBef>
                <a:spcPts val="0"/>
              </a:spcBef>
              <a:spcAft>
                <a:spcPts val="0"/>
              </a:spcAft>
              <a:buSzPts val="1100"/>
              <a:buChar char="○"/>
            </a:pPr>
            <a:r>
              <a:rPr lang="en"/>
              <a:t>Ready to Eat Cereal</a:t>
            </a:r>
            <a:endParaRPr/>
          </a:p>
          <a:p>
            <a:pPr marL="914400" lvl="1" indent="-298450" algn="l" rtl="0">
              <a:spcBef>
                <a:spcPts val="0"/>
              </a:spcBef>
              <a:spcAft>
                <a:spcPts val="0"/>
              </a:spcAft>
              <a:buSzPts val="1100"/>
              <a:buChar char="○"/>
            </a:pPr>
            <a:r>
              <a:rPr lang="en"/>
              <a:t>Wholesome Pantry</a:t>
            </a:r>
            <a:endParaRPr/>
          </a:p>
          <a:p>
            <a:pPr marL="914400" lvl="1" indent="-298450" algn="l" rtl="0">
              <a:spcBef>
                <a:spcPts val="0"/>
              </a:spcBef>
              <a:spcAft>
                <a:spcPts val="0"/>
              </a:spcAft>
              <a:buSzPts val="1100"/>
              <a:buChar char="○"/>
            </a:pPr>
            <a:r>
              <a:rPr lang="en"/>
              <a:t>Poultry</a:t>
            </a:r>
            <a:endParaRPr/>
          </a:p>
          <a:p>
            <a:pPr marL="457200" lvl="0" indent="-311150" algn="l" rtl="0">
              <a:spcBef>
                <a:spcPts val="0"/>
              </a:spcBef>
              <a:spcAft>
                <a:spcPts val="0"/>
              </a:spcAft>
              <a:buSzPts val="1300"/>
              <a:buChar char="●"/>
            </a:pPr>
            <a:r>
              <a:rPr lang="en"/>
              <a:t>The split was performed on the basis of the upc_cat_code.</a:t>
            </a:r>
            <a:endParaRPr/>
          </a:p>
          <a:p>
            <a:pPr marL="457200" lvl="0" indent="-311150" algn="l" rtl="0">
              <a:spcBef>
                <a:spcPts val="0"/>
              </a:spcBef>
              <a:spcAft>
                <a:spcPts val="0"/>
              </a:spcAft>
              <a:buSzPts val="1300"/>
              <a:buChar char="●"/>
            </a:pPr>
            <a:r>
              <a:rPr lang="en"/>
              <a:t>This would allow us to examine and analyze each category a bit more closely.</a:t>
            </a:r>
            <a:endParaRPr/>
          </a:p>
        </p:txBody>
      </p:sp>
      <p:pic>
        <p:nvPicPr>
          <p:cNvPr id="148" name="Google Shape;148;p15"/>
          <p:cNvPicPr preferRelativeResize="0"/>
          <p:nvPr/>
        </p:nvPicPr>
        <p:blipFill>
          <a:blip r:embed="rId3">
            <a:alphaModFix/>
          </a:blip>
          <a:stretch>
            <a:fillRect/>
          </a:stretch>
        </p:blipFill>
        <p:spPr>
          <a:xfrm>
            <a:off x="4617525" y="1666875"/>
            <a:ext cx="4133850" cy="904875"/>
          </a:xfrm>
          <a:prstGeom prst="rect">
            <a:avLst/>
          </a:prstGeom>
          <a:noFill/>
          <a:ln>
            <a:noFill/>
          </a:ln>
        </p:spPr>
      </p:pic>
      <p:pic>
        <p:nvPicPr>
          <p:cNvPr id="149" name="Google Shape;149;p15"/>
          <p:cNvPicPr preferRelativeResize="0"/>
          <p:nvPr/>
        </p:nvPicPr>
        <p:blipFill>
          <a:blip r:embed="rId4">
            <a:alphaModFix/>
          </a:blip>
          <a:stretch>
            <a:fillRect/>
          </a:stretch>
        </p:blipFill>
        <p:spPr>
          <a:xfrm>
            <a:off x="4617525" y="3031375"/>
            <a:ext cx="4133850" cy="857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Preprocessing</a:t>
            </a:r>
            <a:endParaRPr/>
          </a:p>
        </p:txBody>
      </p:sp>
      <p:sp>
        <p:nvSpPr>
          <p:cNvPr id="155" name="Google Shape;155;p16"/>
          <p:cNvSpPr txBox="1">
            <a:spLocks noGrp="1"/>
          </p:cNvSpPr>
          <p:nvPr>
            <p:ph type="body" idx="1"/>
          </p:nvPr>
        </p:nvSpPr>
        <p:spPr>
          <a:xfrm>
            <a:off x="1206500" y="1212350"/>
            <a:ext cx="6228000" cy="3280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Since the data is fragmented, we first concatenate the data in SAS to create our combined dataset.</a:t>
            </a:r>
            <a:endParaRPr/>
          </a:p>
          <a:p>
            <a:pPr marL="457200" lvl="0" indent="-311150" algn="l" rtl="0">
              <a:spcBef>
                <a:spcPts val="0"/>
              </a:spcBef>
              <a:spcAft>
                <a:spcPts val="0"/>
              </a:spcAft>
              <a:buSzPts val="1300"/>
              <a:buChar char="●"/>
            </a:pPr>
            <a:r>
              <a:rPr lang="en"/>
              <a:t>Also since AD_ITM_PRTY_CODE is a categorical variable with non-binary values, we create dummy variables to store the value for each category</a:t>
            </a:r>
            <a:endParaRPr/>
          </a:p>
        </p:txBody>
      </p:sp>
      <p:pic>
        <p:nvPicPr>
          <p:cNvPr id="156" name="Google Shape;156;p16"/>
          <p:cNvPicPr preferRelativeResize="0"/>
          <p:nvPr/>
        </p:nvPicPr>
        <p:blipFill>
          <a:blip r:embed="rId3">
            <a:alphaModFix/>
          </a:blip>
          <a:stretch>
            <a:fillRect/>
          </a:stretch>
        </p:blipFill>
        <p:spPr>
          <a:xfrm>
            <a:off x="1416772" y="2793875"/>
            <a:ext cx="6177125" cy="1874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7"/>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Exploratory Data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8"/>
          <p:cNvSpPr txBox="1">
            <a:spLocks noGrp="1"/>
          </p:cNvSpPr>
          <p:nvPr>
            <p:ph type="title"/>
          </p:nvPr>
        </p:nvSpPr>
        <p:spPr>
          <a:xfrm>
            <a:off x="1297500" y="667600"/>
            <a:ext cx="7038900" cy="64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Analysis - Sales by Product Category</a:t>
            </a:r>
            <a:endParaRPr/>
          </a:p>
        </p:txBody>
      </p:sp>
      <p:pic>
        <p:nvPicPr>
          <p:cNvPr id="167" name="Google Shape;167;p18"/>
          <p:cNvPicPr preferRelativeResize="0"/>
          <p:nvPr/>
        </p:nvPicPr>
        <p:blipFill rotWithShape="1">
          <a:blip r:embed="rId3">
            <a:alphaModFix/>
          </a:blip>
          <a:srcRect l="23511" t="22012" r="21270" b="21182"/>
          <a:stretch/>
        </p:blipFill>
        <p:spPr>
          <a:xfrm>
            <a:off x="2082729" y="1308100"/>
            <a:ext cx="5307398" cy="3562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Analysis</a:t>
            </a:r>
            <a:endParaRPr/>
          </a:p>
        </p:txBody>
      </p:sp>
      <p:sp>
        <p:nvSpPr>
          <p:cNvPr id="173" name="Google Shape;173;p19"/>
          <p:cNvSpPr txBox="1">
            <a:spLocks noGrp="1"/>
          </p:cNvSpPr>
          <p:nvPr>
            <p:ph type="body" idx="1"/>
          </p:nvPr>
        </p:nvSpPr>
        <p:spPr>
          <a:xfrm>
            <a:off x="895450" y="1395875"/>
            <a:ext cx="4498500" cy="30678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For our analysis of promotional effectiveness, we decided to focus on the most successful stores in each of the 3 categories, to observe what kind of discount types and ad types proved to be the most effective in driving sales in that product category.</a:t>
            </a:r>
            <a:endParaRPr/>
          </a:p>
          <a:p>
            <a:pPr marL="457200" lvl="0" indent="-311150" algn="l" rtl="0">
              <a:spcBef>
                <a:spcPts val="0"/>
              </a:spcBef>
              <a:spcAft>
                <a:spcPts val="0"/>
              </a:spcAft>
              <a:buSzPts val="1300"/>
              <a:buChar char="●"/>
            </a:pPr>
            <a:r>
              <a:rPr lang="en"/>
              <a:t>Optimally some of their strategies could be replicated by other stores who are lacking in those categories.</a:t>
            </a:r>
            <a:endParaRPr/>
          </a:p>
          <a:p>
            <a:pPr marL="457200" lvl="0" indent="-311150" algn="l" rtl="0">
              <a:spcBef>
                <a:spcPts val="0"/>
              </a:spcBef>
              <a:spcAft>
                <a:spcPts val="0"/>
              </a:spcAft>
              <a:buSzPts val="1300"/>
              <a:buChar char="●"/>
            </a:pPr>
            <a:r>
              <a:rPr lang="en"/>
              <a:t>We selected the store with the highest sales in each area.</a:t>
            </a:r>
            <a:endParaRPr/>
          </a:p>
          <a:p>
            <a:pPr marL="914400" lvl="1" indent="-298450" algn="l" rtl="0">
              <a:spcBef>
                <a:spcPts val="0"/>
              </a:spcBef>
              <a:spcAft>
                <a:spcPts val="0"/>
              </a:spcAft>
              <a:buSzPts val="1100"/>
              <a:buChar char="○"/>
            </a:pPr>
            <a:r>
              <a:rPr lang="en"/>
              <a:t>Cereals - Store 662</a:t>
            </a:r>
            <a:endParaRPr/>
          </a:p>
          <a:p>
            <a:pPr marL="914400" lvl="1" indent="-298450" algn="l" rtl="0">
              <a:spcBef>
                <a:spcPts val="0"/>
              </a:spcBef>
              <a:spcAft>
                <a:spcPts val="0"/>
              </a:spcAft>
              <a:buSzPts val="1100"/>
              <a:buChar char="○"/>
            </a:pPr>
            <a:r>
              <a:rPr lang="en"/>
              <a:t>Wholesome Pantry - Store 385</a:t>
            </a:r>
            <a:endParaRPr/>
          </a:p>
          <a:p>
            <a:pPr marL="914400" lvl="1" indent="-298450" algn="l" rtl="0">
              <a:spcBef>
                <a:spcPts val="0"/>
              </a:spcBef>
              <a:spcAft>
                <a:spcPts val="0"/>
              </a:spcAft>
              <a:buSzPts val="1100"/>
              <a:buChar char="○"/>
            </a:pPr>
            <a:r>
              <a:rPr lang="en"/>
              <a:t>Poultry - Store 501</a:t>
            </a:r>
            <a:endParaRPr/>
          </a:p>
        </p:txBody>
      </p:sp>
      <p:pic>
        <p:nvPicPr>
          <p:cNvPr id="174" name="Google Shape;174;p19"/>
          <p:cNvPicPr preferRelativeResize="0"/>
          <p:nvPr/>
        </p:nvPicPr>
        <p:blipFill>
          <a:blip r:embed="rId3">
            <a:alphaModFix/>
          </a:blip>
          <a:stretch>
            <a:fillRect/>
          </a:stretch>
        </p:blipFill>
        <p:spPr>
          <a:xfrm>
            <a:off x="6138088" y="867825"/>
            <a:ext cx="2019300" cy="1152525"/>
          </a:xfrm>
          <a:prstGeom prst="rect">
            <a:avLst/>
          </a:prstGeom>
          <a:noFill/>
          <a:ln>
            <a:noFill/>
          </a:ln>
        </p:spPr>
      </p:pic>
      <p:pic>
        <p:nvPicPr>
          <p:cNvPr id="175" name="Google Shape;175;p19"/>
          <p:cNvPicPr preferRelativeResize="0"/>
          <p:nvPr/>
        </p:nvPicPr>
        <p:blipFill>
          <a:blip r:embed="rId4">
            <a:alphaModFix/>
          </a:blip>
          <a:stretch>
            <a:fillRect/>
          </a:stretch>
        </p:blipFill>
        <p:spPr>
          <a:xfrm>
            <a:off x="6123800" y="2154500"/>
            <a:ext cx="2047875" cy="1152525"/>
          </a:xfrm>
          <a:prstGeom prst="rect">
            <a:avLst/>
          </a:prstGeom>
          <a:noFill/>
          <a:ln>
            <a:noFill/>
          </a:ln>
        </p:spPr>
      </p:pic>
      <p:pic>
        <p:nvPicPr>
          <p:cNvPr id="176" name="Google Shape;176;p19"/>
          <p:cNvPicPr preferRelativeResize="0"/>
          <p:nvPr/>
        </p:nvPicPr>
        <p:blipFill>
          <a:blip r:embed="rId5">
            <a:alphaModFix/>
          </a:blip>
          <a:stretch>
            <a:fillRect/>
          </a:stretch>
        </p:blipFill>
        <p:spPr>
          <a:xfrm>
            <a:off x="6138100" y="3512525"/>
            <a:ext cx="2028825" cy="1143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Promotion Frequency, Sales by Category</a:t>
            </a:r>
            <a:endParaRPr/>
          </a:p>
        </p:txBody>
      </p:sp>
      <p:pic>
        <p:nvPicPr>
          <p:cNvPr id="182" name="Google Shape;182;p20"/>
          <p:cNvPicPr preferRelativeResize="0"/>
          <p:nvPr/>
        </p:nvPicPr>
        <p:blipFill>
          <a:blip r:embed="rId3">
            <a:alphaModFix/>
          </a:blip>
          <a:stretch>
            <a:fillRect/>
          </a:stretch>
        </p:blipFill>
        <p:spPr>
          <a:xfrm>
            <a:off x="1482932" y="1307850"/>
            <a:ext cx="6668048" cy="351697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Cereal Sales and Ad sizes for Store 662</a:t>
            </a:r>
            <a:endParaRPr/>
          </a:p>
        </p:txBody>
      </p:sp>
      <p:pic>
        <p:nvPicPr>
          <p:cNvPr id="188" name="Google Shape;188;p21"/>
          <p:cNvPicPr preferRelativeResize="0"/>
          <p:nvPr/>
        </p:nvPicPr>
        <p:blipFill>
          <a:blip r:embed="rId3">
            <a:alphaModFix/>
          </a:blip>
          <a:stretch>
            <a:fillRect/>
          </a:stretch>
        </p:blipFill>
        <p:spPr>
          <a:xfrm>
            <a:off x="979318" y="1460250"/>
            <a:ext cx="7185363" cy="35308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2"/>
          <p:cNvSpPr txBox="1">
            <a:spLocks noGrp="1"/>
          </p:cNvSpPr>
          <p:nvPr>
            <p:ph type="title"/>
          </p:nvPr>
        </p:nvSpPr>
        <p:spPr>
          <a:xfrm>
            <a:off x="1214050" y="4013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Cereal Sales  and Discount Types for Store 662</a:t>
            </a:r>
            <a:endParaRPr/>
          </a:p>
        </p:txBody>
      </p:sp>
      <p:pic>
        <p:nvPicPr>
          <p:cNvPr id="194" name="Google Shape;194;p22"/>
          <p:cNvPicPr preferRelativeResize="0"/>
          <p:nvPr/>
        </p:nvPicPr>
        <p:blipFill>
          <a:blip r:embed="rId3">
            <a:alphaModFix/>
          </a:blip>
          <a:stretch>
            <a:fillRect/>
          </a:stretch>
        </p:blipFill>
        <p:spPr>
          <a:xfrm>
            <a:off x="1041150" y="1460250"/>
            <a:ext cx="6848577" cy="34242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3"/>
          <p:cNvSpPr txBox="1">
            <a:spLocks noGrp="1"/>
          </p:cNvSpPr>
          <p:nvPr>
            <p:ph type="title"/>
          </p:nvPr>
        </p:nvSpPr>
        <p:spPr>
          <a:xfrm>
            <a:off x="1213800" y="393750"/>
            <a:ext cx="71226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Wholesome Pantry Sales and Ad Sizes for Store 385</a:t>
            </a:r>
            <a:endParaRPr/>
          </a:p>
        </p:txBody>
      </p:sp>
      <p:pic>
        <p:nvPicPr>
          <p:cNvPr id="200" name="Google Shape;200;p23"/>
          <p:cNvPicPr preferRelativeResize="0"/>
          <p:nvPr/>
        </p:nvPicPr>
        <p:blipFill>
          <a:blip r:embed="rId3">
            <a:alphaModFix/>
          </a:blip>
          <a:stretch>
            <a:fillRect/>
          </a:stretch>
        </p:blipFill>
        <p:spPr>
          <a:xfrm>
            <a:off x="994002" y="1460250"/>
            <a:ext cx="7155996" cy="3530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4"/>
          <p:cNvSpPr txBox="1">
            <a:spLocks noGrp="1"/>
          </p:cNvSpPr>
          <p:nvPr>
            <p:ph type="title"/>
          </p:nvPr>
        </p:nvSpPr>
        <p:spPr>
          <a:xfrm>
            <a:off x="1130600" y="4468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Wholesome Pantry Sales and discount types for Store 385</a:t>
            </a:r>
            <a:endParaRPr/>
          </a:p>
        </p:txBody>
      </p:sp>
      <p:pic>
        <p:nvPicPr>
          <p:cNvPr id="206" name="Google Shape;206;p24"/>
          <p:cNvPicPr preferRelativeResize="0"/>
          <p:nvPr/>
        </p:nvPicPr>
        <p:blipFill>
          <a:blip r:embed="rId3">
            <a:alphaModFix/>
          </a:blip>
          <a:stretch>
            <a:fillRect/>
          </a:stretch>
        </p:blipFill>
        <p:spPr>
          <a:xfrm>
            <a:off x="1333721" y="1513350"/>
            <a:ext cx="6476558" cy="3477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Frozen Poultry Sales and advertisement trend for Store 501</a:t>
            </a:r>
            <a:endParaRPr/>
          </a:p>
        </p:txBody>
      </p:sp>
      <p:pic>
        <p:nvPicPr>
          <p:cNvPr id="212" name="Google Shape;212;p25"/>
          <p:cNvPicPr preferRelativeResize="0"/>
          <p:nvPr/>
        </p:nvPicPr>
        <p:blipFill>
          <a:blip r:embed="rId3">
            <a:alphaModFix/>
          </a:blip>
          <a:stretch>
            <a:fillRect/>
          </a:stretch>
        </p:blipFill>
        <p:spPr>
          <a:xfrm>
            <a:off x="985899" y="1460250"/>
            <a:ext cx="7172201" cy="35308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Frozen Poultry Sales and discount trend for Store 385</a:t>
            </a:r>
            <a:endParaRPr/>
          </a:p>
        </p:txBody>
      </p:sp>
      <p:pic>
        <p:nvPicPr>
          <p:cNvPr id="218" name="Google Shape;218;p26"/>
          <p:cNvPicPr preferRelativeResize="0"/>
          <p:nvPr/>
        </p:nvPicPr>
        <p:blipFill>
          <a:blip r:embed="rId3">
            <a:alphaModFix/>
          </a:blip>
          <a:stretch>
            <a:fillRect/>
          </a:stretch>
        </p:blipFill>
        <p:spPr>
          <a:xfrm>
            <a:off x="1028033" y="1460250"/>
            <a:ext cx="7087934" cy="35308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7"/>
          <p:cNvSpPr txBox="1">
            <a:spLocks noGrp="1"/>
          </p:cNvSpPr>
          <p:nvPr>
            <p:ph type="title"/>
          </p:nvPr>
        </p:nvSpPr>
        <p:spPr>
          <a:xfrm>
            <a:off x="1297500" y="576550"/>
            <a:ext cx="7038900"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Multiple Regression Model</a:t>
            </a:r>
            <a:endParaRPr/>
          </a:p>
        </p:txBody>
      </p:sp>
      <p:sp>
        <p:nvSpPr>
          <p:cNvPr id="224" name="Google Shape;224;p27"/>
          <p:cNvSpPr txBox="1">
            <a:spLocks noGrp="1"/>
          </p:cNvSpPr>
          <p:nvPr>
            <p:ph type="body" idx="1"/>
          </p:nvPr>
        </p:nvSpPr>
        <p:spPr>
          <a:xfrm>
            <a:off x="1297500" y="1365525"/>
            <a:ext cx="7038900" cy="22986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To analyze which variables are contributing towards sales in each category and their significance, we decided to run a multiple regression model using Dollar Salles (TTL_SCAN_DLR_AMT) as our target variable.</a:t>
            </a:r>
            <a:endParaRPr/>
          </a:p>
          <a:p>
            <a:pPr marL="457200" lvl="0" indent="-311150" algn="l" rtl="0">
              <a:spcBef>
                <a:spcPts val="0"/>
              </a:spcBef>
              <a:spcAft>
                <a:spcPts val="0"/>
              </a:spcAft>
              <a:buSzPts val="1300"/>
              <a:buChar char="●"/>
            </a:pPr>
            <a:r>
              <a:rPr lang="en"/>
              <a:t>We use the different discount types variables(DSCNT_AMT, DIGTL_DSCNT_AMT, MIXNMTCH_DSCNT_AMT) and Ad size variables (NOT_PROMOTED,IN_STORE, FRONT_PAGE etc.)  as our independent variables.</a:t>
            </a:r>
            <a:endParaRPr/>
          </a:p>
          <a:p>
            <a:pPr marL="457200" lvl="0" indent="-311150" algn="l" rtl="0">
              <a:spcBef>
                <a:spcPts val="0"/>
              </a:spcBef>
              <a:spcAft>
                <a:spcPts val="0"/>
              </a:spcAft>
              <a:buSzPts val="1300"/>
              <a:buChar char="●"/>
            </a:pPr>
            <a:r>
              <a:rPr lang="en"/>
              <a:t>We also decided to use stepwise feature selection in our model to filter out insignificant variables. Using marketing analytics general practice, we set a 10% significance criteria for the attributes.</a:t>
            </a:r>
            <a:endParaRPr/>
          </a:p>
        </p:txBody>
      </p:sp>
      <p:pic>
        <p:nvPicPr>
          <p:cNvPr id="225" name="Google Shape;225;p27"/>
          <p:cNvPicPr preferRelativeResize="0"/>
          <p:nvPr/>
        </p:nvPicPr>
        <p:blipFill>
          <a:blip r:embed="rId3">
            <a:alphaModFix/>
          </a:blip>
          <a:stretch>
            <a:fillRect/>
          </a:stretch>
        </p:blipFill>
        <p:spPr>
          <a:xfrm>
            <a:off x="258600" y="3884800"/>
            <a:ext cx="8839203" cy="54746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Regression Models</a:t>
            </a:r>
            <a:endParaRPr/>
          </a:p>
        </p:txBody>
      </p:sp>
      <p:sp>
        <p:nvSpPr>
          <p:cNvPr id="231" name="Google Shape;231;p28"/>
          <p:cNvSpPr txBox="1">
            <a:spLocks noGrp="1"/>
          </p:cNvSpPr>
          <p:nvPr>
            <p:ph type="body" idx="1"/>
          </p:nvPr>
        </p:nvSpPr>
        <p:spPr>
          <a:xfrm>
            <a:off x="45525" y="1407725"/>
            <a:ext cx="4893000" cy="36186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After running the models, we get the following equations for the 3 stores in their respective categories.</a:t>
            </a:r>
            <a:endParaRPr/>
          </a:p>
          <a:p>
            <a:pPr marL="457200" lvl="0" indent="-311150" algn="l" rtl="0">
              <a:spcBef>
                <a:spcPts val="0"/>
              </a:spcBef>
              <a:spcAft>
                <a:spcPts val="0"/>
              </a:spcAft>
              <a:buSzPts val="1300"/>
              <a:buChar char="●"/>
            </a:pPr>
            <a:r>
              <a:rPr lang="en"/>
              <a:t>Cereals - Store 662</a:t>
            </a:r>
            <a:endParaRPr/>
          </a:p>
          <a:p>
            <a:pPr marL="914400" lvl="1" indent="-298450" algn="l" rtl="0">
              <a:spcBef>
                <a:spcPts val="0"/>
              </a:spcBef>
              <a:spcAft>
                <a:spcPts val="0"/>
              </a:spcAft>
              <a:buSzPts val="1100"/>
              <a:buChar char="○"/>
            </a:pPr>
            <a:r>
              <a:rPr lang="en"/>
              <a:t>Sales = -272.12 + 452.17* (DSCNT_AMT) + 49.62*(DIGTL_DSCNT) + 365.49*(MIXNMTCH) + 257.39*(NOT_PROMOTED) + 848.28*(FRONT_PAGE) + 175.66*(IN_STORE)</a:t>
            </a:r>
            <a:endParaRPr/>
          </a:p>
          <a:p>
            <a:pPr marL="457200" lvl="0" indent="-311150" algn="l" rtl="0">
              <a:spcBef>
                <a:spcPts val="0"/>
              </a:spcBef>
              <a:spcAft>
                <a:spcPts val="0"/>
              </a:spcAft>
              <a:buSzPts val="1300"/>
              <a:buChar char="●"/>
            </a:pPr>
            <a:r>
              <a:rPr lang="en"/>
              <a:t>Wholesome Pantry - Store 385</a:t>
            </a:r>
            <a:endParaRPr/>
          </a:p>
          <a:p>
            <a:pPr marL="914400" lvl="1" indent="-298450" algn="l" rtl="0">
              <a:spcBef>
                <a:spcPts val="0"/>
              </a:spcBef>
              <a:spcAft>
                <a:spcPts val="0"/>
              </a:spcAft>
              <a:buSzPts val="1100"/>
              <a:buChar char="○"/>
            </a:pPr>
            <a:r>
              <a:rPr lang="en"/>
              <a:t>Sales = 37.56 + (DSCNT_AMT)*14.15 + (DIGTL_DSCNT)*4.22 + (MIXNMTCH)*20.3  - 7.36*(NOT_PROMOTED) - 16.76*(IN_PAGE_LARGE_PHOTO)</a:t>
            </a:r>
            <a:endParaRPr/>
          </a:p>
          <a:p>
            <a:pPr marL="457200" lvl="0" indent="-311150" algn="l" rtl="0">
              <a:spcBef>
                <a:spcPts val="0"/>
              </a:spcBef>
              <a:spcAft>
                <a:spcPts val="0"/>
              </a:spcAft>
              <a:buSzPts val="1300"/>
              <a:buChar char="●"/>
            </a:pPr>
            <a:r>
              <a:rPr lang="en"/>
              <a:t>Poultry - Store 501</a:t>
            </a:r>
            <a:endParaRPr/>
          </a:p>
          <a:p>
            <a:pPr marL="914400" lvl="1" indent="-298450" algn="l" rtl="0">
              <a:spcBef>
                <a:spcPts val="0"/>
              </a:spcBef>
              <a:spcAft>
                <a:spcPts val="0"/>
              </a:spcAft>
              <a:buSzPts val="1100"/>
              <a:buChar char="○"/>
            </a:pPr>
            <a:r>
              <a:rPr lang="en"/>
              <a:t>Sales = 27.43 + 15.06*(DSCNT_AMT) + 23.34*(NOT_PROMOTED) + 503.29*(FRONT_PAGE) + 66.99*(IN_PAGE_SMALL_PHOTO)</a:t>
            </a:r>
            <a:endParaRPr/>
          </a:p>
        </p:txBody>
      </p:sp>
      <p:pic>
        <p:nvPicPr>
          <p:cNvPr id="232" name="Google Shape;232;p28"/>
          <p:cNvPicPr preferRelativeResize="0"/>
          <p:nvPr/>
        </p:nvPicPr>
        <p:blipFill>
          <a:blip r:embed="rId3">
            <a:alphaModFix/>
          </a:blip>
          <a:stretch>
            <a:fillRect/>
          </a:stretch>
        </p:blipFill>
        <p:spPr>
          <a:xfrm>
            <a:off x="4938550" y="1307850"/>
            <a:ext cx="3900649" cy="1416745"/>
          </a:xfrm>
          <a:prstGeom prst="rect">
            <a:avLst/>
          </a:prstGeom>
          <a:noFill/>
          <a:ln>
            <a:noFill/>
          </a:ln>
        </p:spPr>
      </p:pic>
      <p:pic>
        <p:nvPicPr>
          <p:cNvPr id="233" name="Google Shape;233;p28"/>
          <p:cNvPicPr preferRelativeResize="0"/>
          <p:nvPr/>
        </p:nvPicPr>
        <p:blipFill>
          <a:blip r:embed="rId4">
            <a:alphaModFix/>
          </a:blip>
          <a:stretch>
            <a:fillRect/>
          </a:stretch>
        </p:blipFill>
        <p:spPr>
          <a:xfrm>
            <a:off x="4938550" y="2848495"/>
            <a:ext cx="3900650" cy="196882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9"/>
          <p:cNvSpPr txBox="1">
            <a:spLocks noGrp="1"/>
          </p:cNvSpPr>
          <p:nvPr>
            <p:ph type="title"/>
          </p:nvPr>
        </p:nvSpPr>
        <p:spPr>
          <a:xfrm>
            <a:off x="1297500" y="664275"/>
            <a:ext cx="7038900" cy="64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Analysis &amp; Interpretation</a:t>
            </a:r>
            <a:endParaRPr/>
          </a:p>
        </p:txBody>
      </p:sp>
      <p:sp>
        <p:nvSpPr>
          <p:cNvPr id="239" name="Google Shape;239;p29"/>
          <p:cNvSpPr txBox="1">
            <a:spLocks noGrp="1"/>
          </p:cNvSpPr>
          <p:nvPr>
            <p:ph type="body" idx="1"/>
          </p:nvPr>
        </p:nvSpPr>
        <p:spPr>
          <a:xfrm>
            <a:off x="1052550" y="1582725"/>
            <a:ext cx="7038900" cy="32463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Let us consider the equation of store 662, the highest seller in the cereal category.</a:t>
            </a:r>
            <a:endParaRPr/>
          </a:p>
          <a:p>
            <a:pPr marL="914400" lvl="1" indent="-298450" algn="l" rtl="0">
              <a:spcBef>
                <a:spcPts val="0"/>
              </a:spcBef>
              <a:spcAft>
                <a:spcPts val="0"/>
              </a:spcAft>
              <a:buSzPts val="1100"/>
              <a:buChar char="○"/>
            </a:pPr>
            <a:r>
              <a:rPr lang="en"/>
              <a:t>Sales = -272.12 + 452.17* (DSCNT_AMT) + 49.62*(DIGTL_DSCNT) + 365.49*(MIXNMTCH) + 257.39*(NOT_PROMOTED) + 848.28*(FRONT_PAGE) + 175.66*(IN_STORE)</a:t>
            </a:r>
            <a:endParaRPr/>
          </a:p>
          <a:p>
            <a:pPr marL="457200" lvl="0" indent="-311150" algn="l" rtl="0">
              <a:spcBef>
                <a:spcPts val="0"/>
              </a:spcBef>
              <a:spcAft>
                <a:spcPts val="0"/>
              </a:spcAft>
              <a:buSzPts val="1300"/>
              <a:buChar char="●"/>
            </a:pPr>
            <a:r>
              <a:rPr lang="en"/>
              <a:t>We first establish a baseline for a Non promoted item. If a cereal item is not promoted then the baseline is -272.12 + 257.39*(1) = -14.73, implying this will lead to a reduction in sales by that amount over the time period.</a:t>
            </a:r>
            <a:endParaRPr/>
          </a:p>
          <a:p>
            <a:pPr marL="457200" lvl="0" indent="-311150" algn="l" rtl="0">
              <a:spcBef>
                <a:spcPts val="0"/>
              </a:spcBef>
              <a:spcAft>
                <a:spcPts val="0"/>
              </a:spcAft>
              <a:buSzPts val="1300"/>
              <a:buChar char="●"/>
            </a:pPr>
            <a:r>
              <a:rPr lang="en"/>
              <a:t>This model tell us that the most effective ad size in driving sales was a front page promotion. Which means that if a cereal item was featured on the front page, it effectively drove an increase in sales by -272.12 + 848.28*(1) = 576.16, over that time period.</a:t>
            </a:r>
            <a:endParaRPr/>
          </a:p>
          <a:p>
            <a:pPr marL="457200" lvl="0" indent="-311150" algn="l" rtl="0">
              <a:spcBef>
                <a:spcPts val="0"/>
              </a:spcBef>
              <a:spcAft>
                <a:spcPts val="0"/>
              </a:spcAft>
              <a:buSzPts val="1300"/>
              <a:buChar char="●"/>
            </a:pPr>
            <a:r>
              <a:rPr lang="en"/>
              <a:t>We also see that the least effective discount type was a digital discount coupon. However this could also be due to the fact that not many customers used digital coupons.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0"/>
          <p:cNvSpPr txBox="1">
            <a:spLocks noGrp="1"/>
          </p:cNvSpPr>
          <p:nvPr>
            <p:ph type="title"/>
          </p:nvPr>
        </p:nvSpPr>
        <p:spPr>
          <a:xfrm>
            <a:off x="1297500" y="573250"/>
            <a:ext cx="7038900" cy="73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Similar Insights</a:t>
            </a:r>
            <a:endParaRPr/>
          </a:p>
        </p:txBody>
      </p:sp>
      <p:sp>
        <p:nvSpPr>
          <p:cNvPr id="245" name="Google Shape;245;p3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We can glean similar insights by looking at the models of store 385 and store 501, the highest sellers in the wholesome pantry and poultry category respectively.</a:t>
            </a:r>
            <a:endParaRPr/>
          </a:p>
          <a:p>
            <a:pPr marL="457200" lvl="0" indent="-311150" algn="l" rtl="0">
              <a:spcBef>
                <a:spcPts val="0"/>
              </a:spcBef>
              <a:spcAft>
                <a:spcPts val="0"/>
              </a:spcAft>
              <a:buSzPts val="1300"/>
              <a:buChar char="●"/>
            </a:pPr>
            <a:r>
              <a:rPr lang="en"/>
              <a:t>Wholesome Pantry - Store 385:</a:t>
            </a:r>
            <a:endParaRPr/>
          </a:p>
          <a:p>
            <a:pPr marL="914400" lvl="1" indent="-298450" algn="l" rtl="0">
              <a:spcBef>
                <a:spcPts val="0"/>
              </a:spcBef>
              <a:spcAft>
                <a:spcPts val="0"/>
              </a:spcAft>
              <a:buSzPts val="1100"/>
              <a:buChar char="○"/>
            </a:pPr>
            <a:r>
              <a:rPr lang="en"/>
              <a:t>Sales = 37.56 + (DSCNT_AMT)*14.15 + (DIGTL_DSCNT)*4.22 + (MIXNMTCH)*20.3  - 7.36*(NOT_PROMOTED) - 16.76*(IN_PAGE_LARGE_PHOTO)</a:t>
            </a:r>
            <a:endParaRPr/>
          </a:p>
          <a:p>
            <a:pPr marL="914400" lvl="1" indent="-298450" algn="l" rtl="0">
              <a:spcBef>
                <a:spcPts val="0"/>
              </a:spcBef>
              <a:spcAft>
                <a:spcPts val="0"/>
              </a:spcAft>
              <a:buSzPts val="1100"/>
              <a:buChar char="○"/>
            </a:pPr>
            <a:r>
              <a:rPr lang="en"/>
              <a:t>This implies that for this store number, a non_promoted item used with a mix n match coupon was most effective in driving sales of wholesome pantry products</a:t>
            </a:r>
            <a:endParaRPr/>
          </a:p>
          <a:p>
            <a:pPr marL="457200" lvl="0" indent="-311150" algn="l" rtl="0">
              <a:spcBef>
                <a:spcPts val="0"/>
              </a:spcBef>
              <a:spcAft>
                <a:spcPts val="0"/>
              </a:spcAft>
              <a:buSzPts val="1300"/>
              <a:buChar char="●"/>
            </a:pPr>
            <a:r>
              <a:rPr lang="en"/>
              <a:t>Poultry - Store 501:</a:t>
            </a:r>
            <a:endParaRPr/>
          </a:p>
          <a:p>
            <a:pPr marL="914400" lvl="1" indent="-298450" algn="l" rtl="0">
              <a:spcBef>
                <a:spcPts val="0"/>
              </a:spcBef>
              <a:spcAft>
                <a:spcPts val="0"/>
              </a:spcAft>
              <a:buSzPts val="1100"/>
              <a:buChar char="○"/>
            </a:pPr>
            <a:r>
              <a:rPr lang="en"/>
              <a:t>Sales = 27.43 + 15.06*(DSCNT_AMT) + 23.34*(NOT_PROMOTED) + 503.29*(FRONT_PAGE) + 66.99*(IN_PAGE_SMALL_PHOTO)</a:t>
            </a:r>
            <a:endParaRPr/>
          </a:p>
          <a:p>
            <a:pPr marL="914400" lvl="1" indent="-298450" algn="l" rtl="0">
              <a:spcBef>
                <a:spcPts val="0"/>
              </a:spcBef>
              <a:spcAft>
                <a:spcPts val="0"/>
              </a:spcAft>
              <a:buSzPts val="1100"/>
              <a:buChar char="○"/>
            </a:pPr>
            <a:r>
              <a:rPr lang="en"/>
              <a:t>Again, this potentially implies, that a front page promotion combined with a traditional discount coupon was most effective in driving sales.</a:t>
            </a:r>
            <a:endParaRPr/>
          </a:p>
          <a:p>
            <a:pPr marL="914400" lvl="0" indent="0" algn="l" rtl="0">
              <a:spcBef>
                <a:spcPts val="1600"/>
              </a:spcBef>
              <a:spcAft>
                <a:spcPts val="16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Recommendations</a:t>
            </a:r>
            <a:endParaRPr/>
          </a:p>
        </p:txBody>
      </p:sp>
      <p:sp>
        <p:nvSpPr>
          <p:cNvPr id="251" name="Google Shape;251;p31"/>
          <p:cNvSpPr txBox="1">
            <a:spLocks noGrp="1"/>
          </p:cNvSpPr>
          <p:nvPr>
            <p:ph type="body" idx="1"/>
          </p:nvPr>
        </p:nvSpPr>
        <p:spPr>
          <a:xfrm>
            <a:off x="1297500" y="1213800"/>
            <a:ext cx="7038900" cy="9141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Since the stores we used were top sellers within their respective product category, stores with lower sales in those categories could potentially try to replicate the strategies of those specific stores.</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
        <p:nvSpPr>
          <p:cNvPr id="252" name="Google Shape;252;p31"/>
          <p:cNvSpPr txBox="1"/>
          <p:nvPr/>
        </p:nvSpPr>
        <p:spPr>
          <a:xfrm>
            <a:off x="75850" y="2192450"/>
            <a:ext cx="2943600" cy="27918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For Cereals:</a:t>
            </a:r>
            <a:endParaRPr sz="1300">
              <a:solidFill>
                <a:schemeClr val="lt1"/>
              </a:solidFill>
              <a:latin typeface="Lato"/>
              <a:ea typeface="Lato"/>
              <a:cs typeface="Lato"/>
              <a:sym typeface="Lato"/>
            </a:endParaRPr>
          </a:p>
          <a:p>
            <a:pPr marL="914400" lvl="1" indent="-298450" algn="l" rtl="0">
              <a:lnSpc>
                <a:spcPct val="115000"/>
              </a:lnSpc>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Discount Rank:</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Traditional Discount Coupon</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Mix N Match Coupon</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Digital Discount Coupon</a:t>
            </a:r>
            <a:endParaRPr sz="1100">
              <a:solidFill>
                <a:schemeClr val="lt1"/>
              </a:solidFill>
              <a:latin typeface="Lato"/>
              <a:ea typeface="Lato"/>
              <a:cs typeface="Lato"/>
              <a:sym typeface="Lato"/>
            </a:endParaRPr>
          </a:p>
          <a:p>
            <a:pPr marL="914400" lvl="1" indent="-298450" algn="l" rtl="0">
              <a:lnSpc>
                <a:spcPct val="115000"/>
              </a:lnSpc>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Ad Type Rank</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Front Page Promotion</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No Promotion</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In Store Promotion</a:t>
            </a:r>
            <a:endParaRPr>
              <a:latin typeface="Lato"/>
              <a:ea typeface="Lato"/>
              <a:cs typeface="Lato"/>
              <a:sym typeface="Lato"/>
            </a:endParaRPr>
          </a:p>
        </p:txBody>
      </p:sp>
      <p:sp>
        <p:nvSpPr>
          <p:cNvPr id="253" name="Google Shape;253;p31"/>
          <p:cNvSpPr txBox="1"/>
          <p:nvPr/>
        </p:nvSpPr>
        <p:spPr>
          <a:xfrm>
            <a:off x="3194475" y="2192450"/>
            <a:ext cx="2943600" cy="27918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For Wholesome Pantry:</a:t>
            </a:r>
            <a:endParaRPr sz="1300">
              <a:solidFill>
                <a:schemeClr val="lt1"/>
              </a:solidFill>
              <a:latin typeface="Lato"/>
              <a:ea typeface="Lato"/>
              <a:cs typeface="Lato"/>
              <a:sym typeface="Lato"/>
            </a:endParaRPr>
          </a:p>
          <a:p>
            <a:pPr marL="914400" lvl="1" indent="-298450" algn="l" rtl="0">
              <a:lnSpc>
                <a:spcPct val="115000"/>
              </a:lnSpc>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Discount Rank:</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Mix N Match Coupon</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Traditional Discount Coupon</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Digital Discount Coupon</a:t>
            </a:r>
            <a:endParaRPr sz="1100">
              <a:solidFill>
                <a:schemeClr val="lt1"/>
              </a:solidFill>
              <a:latin typeface="Lato"/>
              <a:ea typeface="Lato"/>
              <a:cs typeface="Lato"/>
              <a:sym typeface="Lato"/>
            </a:endParaRPr>
          </a:p>
          <a:p>
            <a:pPr marL="914400" lvl="1" indent="-298450" algn="l" rtl="0">
              <a:lnSpc>
                <a:spcPct val="115000"/>
              </a:lnSpc>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Ad Type Rank</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No Promotion</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In Page large photo</a:t>
            </a:r>
            <a:endParaRPr>
              <a:latin typeface="Lato"/>
              <a:ea typeface="Lato"/>
              <a:cs typeface="Lato"/>
              <a:sym typeface="Lato"/>
            </a:endParaRPr>
          </a:p>
        </p:txBody>
      </p:sp>
      <p:sp>
        <p:nvSpPr>
          <p:cNvPr id="254" name="Google Shape;254;p31"/>
          <p:cNvSpPr txBox="1"/>
          <p:nvPr/>
        </p:nvSpPr>
        <p:spPr>
          <a:xfrm>
            <a:off x="6138075" y="2192450"/>
            <a:ext cx="2943600" cy="27918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For Poultry:</a:t>
            </a:r>
            <a:endParaRPr sz="1300">
              <a:solidFill>
                <a:schemeClr val="lt1"/>
              </a:solidFill>
              <a:latin typeface="Lato"/>
              <a:ea typeface="Lato"/>
              <a:cs typeface="Lato"/>
              <a:sym typeface="Lato"/>
            </a:endParaRPr>
          </a:p>
          <a:p>
            <a:pPr marL="914400" lvl="1" indent="-298450" algn="l" rtl="0">
              <a:lnSpc>
                <a:spcPct val="115000"/>
              </a:lnSpc>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Discount Rank:</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Traditional Discount Coupon</a:t>
            </a:r>
            <a:endParaRPr sz="1100">
              <a:solidFill>
                <a:schemeClr val="lt1"/>
              </a:solidFill>
              <a:latin typeface="Lato"/>
              <a:ea typeface="Lato"/>
              <a:cs typeface="Lato"/>
              <a:sym typeface="Lato"/>
            </a:endParaRPr>
          </a:p>
          <a:p>
            <a:pPr marL="914400" lvl="1" indent="-298450" algn="l" rtl="0">
              <a:lnSpc>
                <a:spcPct val="115000"/>
              </a:lnSpc>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Ad Type Rank</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Front Page Promotion</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In Page small photo</a:t>
            </a:r>
            <a:endParaRPr sz="1100">
              <a:solidFill>
                <a:schemeClr val="lt1"/>
              </a:solidFill>
              <a:latin typeface="Lato"/>
              <a:ea typeface="Lato"/>
              <a:cs typeface="Lato"/>
              <a:sym typeface="Lato"/>
            </a:endParaRPr>
          </a:p>
          <a:p>
            <a:pPr marL="1371600" lvl="2" indent="-298450" algn="l" rtl="0">
              <a:lnSpc>
                <a:spcPct val="115000"/>
              </a:lnSpc>
              <a:spcBef>
                <a:spcPts val="0"/>
              </a:spcBef>
              <a:spcAft>
                <a:spcPts val="0"/>
              </a:spcAft>
              <a:buClr>
                <a:schemeClr val="lt1"/>
              </a:buClr>
              <a:buSzPts val="1100"/>
              <a:buFont typeface="Lato"/>
              <a:buAutoNum type="romanLcPeriod"/>
            </a:pPr>
            <a:r>
              <a:rPr lang="en" sz="1100">
                <a:solidFill>
                  <a:schemeClr val="lt1"/>
                </a:solidFill>
                <a:latin typeface="Lato"/>
                <a:ea typeface="Lato"/>
                <a:cs typeface="Lato"/>
                <a:sym typeface="Lato"/>
              </a:rPr>
              <a:t>No promotion</a:t>
            </a:r>
            <a:endParaRPr sz="1100">
              <a:solidFill>
                <a:schemeClr val="lt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Conclusion</a:t>
            </a:r>
            <a:endParaRPr/>
          </a:p>
        </p:txBody>
      </p:sp>
      <p:sp>
        <p:nvSpPr>
          <p:cNvPr id="260" name="Google Shape;260;p32"/>
          <p:cNvSpPr txBox="1">
            <a:spLocks noGrp="1"/>
          </p:cNvSpPr>
          <p:nvPr>
            <p:ph type="body" idx="1"/>
          </p:nvPr>
        </p:nvSpPr>
        <p:spPr>
          <a:xfrm>
            <a:off x="1244400" y="1400650"/>
            <a:ext cx="7038900" cy="2911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a:t>Some ad types or discount types may not be present in the final equation, this could be because the model determined they are not significant enough to be in the model, or it could also be because that item category  did not have those ad types or discount types running.</a:t>
            </a:r>
            <a:endParaRPr/>
          </a:p>
          <a:p>
            <a:pPr marL="457200" lvl="0" indent="-311150" algn="l" rtl="0">
              <a:spcBef>
                <a:spcPts val="0"/>
              </a:spcBef>
              <a:spcAft>
                <a:spcPts val="0"/>
              </a:spcAft>
              <a:buSzPts val="1300"/>
              <a:buChar char="●"/>
            </a:pPr>
            <a:r>
              <a:rPr lang="en"/>
              <a:t>Since it is a regression model, it can be applied onto many other subset variations of the data to extrapolate and examine the results. For example, the model could be applied to all sales of item_num=######## or even sales of top 25 items within a given category.</a:t>
            </a:r>
            <a:endParaRPr/>
          </a:p>
          <a:p>
            <a:pPr marL="457200" lvl="0" indent="-311150" algn="l" rtl="0">
              <a:spcBef>
                <a:spcPts val="0"/>
              </a:spcBef>
              <a:spcAft>
                <a:spcPts val="0"/>
              </a:spcAft>
              <a:buSzPts val="1300"/>
              <a:buChar char="●"/>
            </a:pPr>
            <a:r>
              <a:rPr lang="en"/>
              <a:t>There are multiple opportunities for further analysis in the future.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1310</Words>
  <Application>Microsoft Office PowerPoint</Application>
  <PresentationFormat>On-screen Show (16:9)</PresentationFormat>
  <Paragraphs>97</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Lato</vt:lpstr>
      <vt:lpstr>Montserrat</vt:lpstr>
      <vt:lpstr>Arial</vt:lpstr>
      <vt:lpstr>Focus</vt:lpstr>
      <vt:lpstr>Analysis of Promotional Effectiveness for Major Supermarket Chain</vt:lpstr>
      <vt:lpstr>Data Understanding</vt:lpstr>
      <vt:lpstr>Data Preprocessing</vt:lpstr>
      <vt:lpstr>Data Preprocessing</vt:lpstr>
      <vt:lpstr>Exploratory Data Analysis</vt:lpstr>
      <vt:lpstr>Analysis - Sales by Product Category</vt:lpstr>
      <vt:lpstr>Data Analysis</vt:lpstr>
      <vt:lpstr>Promotion Frequency, Sales by Category</vt:lpstr>
      <vt:lpstr>Cereal Sales and Ad sizes for Store 662</vt:lpstr>
      <vt:lpstr>Cereal Sales  and Discount Types for Store 662</vt:lpstr>
      <vt:lpstr>Wholesome Pantry Sales and Ad Sizes for Store 385</vt:lpstr>
      <vt:lpstr>Wholesome Pantry Sales and discount types for Store 385</vt:lpstr>
      <vt:lpstr>Frozen Poultry Sales and advertisement trend for Store 501</vt:lpstr>
      <vt:lpstr>Frozen Poultry Sales and discount trend for Store 385</vt:lpstr>
      <vt:lpstr>Multiple Regression Model</vt:lpstr>
      <vt:lpstr>Regression Models</vt:lpstr>
      <vt:lpstr>Analysis &amp; Interpretation</vt:lpstr>
      <vt:lpstr>Similar Insights</vt:lpstr>
      <vt:lpstr>Recommendations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Promotional Effectiveness for Major Supermarket Chain</dc:title>
  <cp:lastModifiedBy>Mohit Mhapuskar</cp:lastModifiedBy>
  <cp:revision>1</cp:revision>
  <dcterms:modified xsi:type="dcterms:W3CDTF">2019-12-18T16:21:54Z</dcterms:modified>
</cp:coreProperties>
</file>